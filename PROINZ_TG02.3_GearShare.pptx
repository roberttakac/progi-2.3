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_rels/presentation.xml.rels" ContentType="application/vnd.openxmlformats-package.relationships+xml"/>
  <Override PartName="/ppt/media/hdphoto1.wdp" ContentType="image/vnd.ms-photo"/>
  <Override PartName="/ppt/media/image12.png" ContentType="image/png"/>
  <Override PartName="/ppt/media/image3.png" ContentType="image/png"/>
  <Override PartName="/ppt/media/image9.png" ContentType="image/png"/>
  <Override PartName="/ppt/media/image14.png" ContentType="image/png"/>
  <Override PartName="/ppt/media/image13.png" ContentType="image/png"/>
  <Override PartName="/ppt/media/image4.png" ContentType="image/png"/>
  <Override PartName="/ppt/media/image5.svg" ContentType="image/svg"/>
  <Override PartName="/ppt/media/image8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</p:sldMasterIdLst>
  <p:notesMasterIdLst>
    <p:notesMasterId r:id="rId27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C2E6EC4-EADF-4DD5-A6AC-88C405B22FF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57AD54-E44D-4850-91EC-819A302AD7A1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875020-BB85-4605-B93E-793126D10FE4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Just list no need to elaborate in this stage!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FD1676-68AE-4F74-BEB0-EF70ECB1002A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Navedite samo svoju viziju projektne ideje...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5AD199-6CB6-400A-A947-ADF7177F4EB4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BF7364-C52F-4D51-AB63-3B0ADF90B7B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BAAC52-7BC7-4638-B9BF-C88EBE95611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0B9A9BD-6580-4D1A-917C-688A06DB5A2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9022920-460B-4F2B-AF78-B2149FFD9C4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BDCFF57-5A0B-45AB-846D-5ABBA22632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BB76CA-B602-41AC-B6EE-863CB846B1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9563B7-D5BD-42A3-A27F-17F7C1D30E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D54DEF-F25E-49FD-8286-901EB34D1F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Media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4391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4683600" y="972000"/>
            <a:ext cx="4391640" cy="257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4683600" y="3792600"/>
            <a:ext cx="4391640" cy="257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9E0CE6-0E66-42FC-A8DB-60E3795F27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257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72000" y="3792600"/>
            <a:ext cx="8999640" cy="257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1724280-F661-4D19-A666-CD73EC4311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87CF1B5-DCFA-4BF6-B7E6-1676D8EF8E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C34A403-3C39-4F8E-826F-51272839F8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4391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683600" y="972000"/>
            <a:ext cx="4391640" cy="53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924E65F-3196-4618-903F-5709CF47E0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9367EEBB-110F-4482-B9FD-917B0DDA9D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A1D532B5-3C77-499C-8926-D485540D21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9ABD8C61-75EB-4373-B36D-33FDEFCA6C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774B9EE5-E95A-413E-83A3-46C2F535EF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8858BCBC-DA26-4F5A-9D72-A34D3CFAAB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microsoft.com/office/2007/relationships/hdphoto" Target="../media/hdphoto1.wdp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2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ight Triangle 32"/>
          <p:cNvSpPr/>
          <p:nvPr/>
        </p:nvSpPr>
        <p:spPr>
          <a:xfrm flipH="1">
            <a:off x="4496040" y="4722840"/>
            <a:ext cx="4644360" cy="2134800"/>
          </a:xfrm>
          <a:prstGeom prst="rtTriangle">
            <a:avLst/>
          </a:prstGeom>
          <a:blipFill rotWithShape="0">
            <a:blip r:embed="rId2"/>
            <a:srcRect/>
            <a:tile tx="0" ty="5527882" sx="100000" sy="100000" algn="tl"/>
          </a:blipFill>
          <a:ln>
            <a:noFill/>
          </a:ln>
          <a:effectLst>
            <a:softEdge rad="63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Franklin Gothic Book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6160" y="3685680"/>
            <a:ext cx="7772040" cy="1540800"/>
          </a:xfrm>
          <a:prstGeom prst="rect">
            <a:avLst/>
          </a:prstGeom>
          <a:noFill/>
          <a:ln w="0">
            <a:noFill/>
          </a:ln>
        </p:spPr>
        <p:txBody>
          <a:bodyPr lIns="252000" rIns="252000" tIns="4680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l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i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k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 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o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 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e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d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i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 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M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a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s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e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r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 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i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l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e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 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s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t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y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l</a:t>
            </a: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0" y="0"/>
            <a:ext cx="1369800" cy="6858000"/>
            <a:chOff x="0" y="0"/>
            <a:chExt cx="1369800" cy="6858000"/>
          </a:xfrm>
        </p:grpSpPr>
        <p:sp>
          <p:nvSpPr>
            <p:cNvPr id="3" name="Rectangle 6"/>
            <p:cNvSpPr/>
            <p:nvPr/>
          </p:nvSpPr>
          <p:spPr>
            <a:xfrm>
              <a:off x="0" y="0"/>
              <a:ext cx="342720" cy="6857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4" name="Rectangle 8"/>
            <p:cNvSpPr/>
            <p:nvPr/>
          </p:nvSpPr>
          <p:spPr>
            <a:xfrm rot="16200000">
              <a:off x="514440" y="-511920"/>
              <a:ext cx="342720" cy="1367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5" name="Rectangle 10"/>
            <p:cNvSpPr/>
            <p:nvPr/>
          </p:nvSpPr>
          <p:spPr>
            <a:xfrm rot="16200000">
              <a:off x="514440" y="6002640"/>
              <a:ext cx="342720" cy="1367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pic>
        <p:nvPicPr>
          <p:cNvPr id="6" name="Picture 13" descr="A close up of a logo&#10;&#10;Description automatically generated"/>
          <p:cNvPicPr/>
          <p:nvPr/>
        </p:nvPicPr>
        <p:blipFill>
          <a:blip r:embed="rId3">
            <a:alphaModFix amt="79000"/>
          </a:blip>
          <a:srcRect l="13470" t="23715" r="15697" b="21450"/>
          <a:stretch/>
        </p:blipFill>
        <p:spPr>
          <a:xfrm>
            <a:off x="7499880" y="308160"/>
            <a:ext cx="1416600" cy="683640"/>
          </a:xfrm>
          <a:prstGeom prst="rect">
            <a:avLst/>
          </a:prstGeom>
          <a:ln w="0">
            <a:noFill/>
          </a:ln>
        </p:spPr>
      </p:pic>
      <p:pic>
        <p:nvPicPr>
          <p:cNvPr id="7" name="Picture 15" descr="A screenshot of a video game&#10;&#10;Description automatically generated"/>
          <p:cNvPicPr/>
          <p:nvPr/>
        </p:nvPicPr>
        <p:blipFill>
          <a:blip r:embed="rId4"/>
          <a:srcRect l="0" t="0" r="0" b="772"/>
          <a:stretch/>
        </p:blipFill>
        <p:spPr>
          <a:xfrm>
            <a:off x="629280" y="543600"/>
            <a:ext cx="2494800" cy="2463120"/>
          </a:xfrm>
          <a:prstGeom prst="rect">
            <a:avLst/>
          </a:prstGeom>
          <a:ln w="0">
            <a:noFill/>
          </a:ln>
        </p:spPr>
      </p:pic>
      <p:sp>
        <p:nvSpPr>
          <p:cNvPr id="8" name="TextBox 17"/>
          <p:cNvSpPr/>
          <p:nvPr/>
        </p:nvSpPr>
        <p:spPr>
          <a:xfrm>
            <a:off x="6299280" y="1651680"/>
            <a:ext cx="315504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defTabSz="457200">
              <a:lnSpc>
                <a:spcPct val="110000"/>
              </a:lnSpc>
            </a:pPr>
            <a:r>
              <a:rPr b="1" lang="hr-HR" sz="1700" spc="-1" strike="noStrike" cap="small">
                <a:solidFill>
                  <a:srgbClr val="363636"/>
                </a:solidFill>
                <a:latin typeface="Century Gothic"/>
              </a:rPr>
              <a:t>Programsko inženjerstvo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1" lang="hr-HR" sz="1700" spc="-1" strike="noStrike" cap="small">
                <a:solidFill>
                  <a:srgbClr val="363636"/>
                </a:solidFill>
                <a:latin typeface="Century Gothic"/>
              </a:rPr>
              <a:t>ID 183400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" name="Group 33"/>
          <p:cNvGrpSpPr/>
          <p:nvPr/>
        </p:nvGrpSpPr>
        <p:grpSpPr>
          <a:xfrm>
            <a:off x="8541720" y="2712960"/>
            <a:ext cx="601920" cy="689400"/>
            <a:chOff x="8541720" y="2712960"/>
            <a:chExt cx="601920" cy="689400"/>
          </a:xfrm>
        </p:grpSpPr>
        <p:sp>
          <p:nvSpPr>
            <p:cNvPr id="10" name="Rectangle 20"/>
            <p:cNvSpPr/>
            <p:nvPr/>
          </p:nvSpPr>
          <p:spPr>
            <a:xfrm>
              <a:off x="9000000" y="271872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11" name="Rectangle 22"/>
            <p:cNvSpPr/>
            <p:nvPr/>
          </p:nvSpPr>
          <p:spPr>
            <a:xfrm>
              <a:off x="8772840" y="271872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12" name="Rectangle 24"/>
            <p:cNvSpPr/>
            <p:nvPr/>
          </p:nvSpPr>
          <p:spPr>
            <a:xfrm>
              <a:off x="8541720" y="2712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pic>
        <p:nvPicPr>
          <p:cNvPr id="13" name="Graphic 3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72440" y="271080"/>
            <a:ext cx="835920" cy="827640"/>
          </a:xfrm>
          <a:prstGeom prst="rect">
            <a:avLst/>
          </a:prstGeom>
          <a:ln w="0">
            <a:noFill/>
          </a:ln>
        </p:spPr>
      </p:pic>
      <p:sp>
        <p:nvSpPr>
          <p:cNvPr id="14" name="TextBox 4"/>
          <p:cNvSpPr/>
          <p:nvPr/>
        </p:nvSpPr>
        <p:spPr>
          <a:xfrm>
            <a:off x="2757240" y="3212640"/>
            <a:ext cx="3369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hr-HR" sz="2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Prezentacija</a:t>
            </a:r>
            <a:r>
              <a:rPr b="0" lang="hr-HR" sz="2000" spc="-1" strike="noStrike">
                <a:solidFill>
                  <a:schemeClr val="dk1"/>
                </a:solidFill>
                <a:latin typeface="Franklin Gothic Demi"/>
              </a:rPr>
              <a:t> </a:t>
            </a:r>
            <a:r>
              <a:rPr b="0" lang="hr-HR" sz="2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projekta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grpSp>
        <p:nvGrpSpPr>
          <p:cNvPr id="17" name="Group 6"/>
          <p:cNvGrpSpPr/>
          <p:nvPr/>
        </p:nvGrpSpPr>
        <p:grpSpPr>
          <a:xfrm>
            <a:off x="0" y="0"/>
            <a:ext cx="1369800" cy="6858000"/>
            <a:chOff x="0" y="0"/>
            <a:chExt cx="1369800" cy="6858000"/>
          </a:xfrm>
        </p:grpSpPr>
        <p:sp>
          <p:nvSpPr>
            <p:cNvPr id="18" name="Rectangle 7"/>
            <p:cNvSpPr/>
            <p:nvPr/>
          </p:nvSpPr>
          <p:spPr>
            <a:xfrm>
              <a:off x="0" y="0"/>
              <a:ext cx="342720" cy="6857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19" name="Rectangle 8"/>
            <p:cNvSpPr/>
            <p:nvPr/>
          </p:nvSpPr>
          <p:spPr>
            <a:xfrm rot="16200000">
              <a:off x="514440" y="6002640"/>
              <a:ext cx="342720" cy="1367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pic>
        <p:nvPicPr>
          <p:cNvPr id="20" name="Picture 10" descr="A screenshot of a video game&#10;&#10;Description automatically generated"/>
          <p:cNvPicPr/>
          <p:nvPr/>
        </p:nvPicPr>
        <p:blipFill>
          <a:blip r:embed="rId3"/>
          <a:srcRect l="0" t="0" r="0" b="772"/>
          <a:stretch/>
        </p:blipFill>
        <p:spPr>
          <a:xfrm>
            <a:off x="7680600" y="120240"/>
            <a:ext cx="1275840" cy="125964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3"/>
          <p:cNvSpPr>
            <a:spLocks noGrp="1"/>
          </p:cNvSpPr>
          <p:nvPr>
            <p:ph type="ftr" idx="1"/>
          </p:nvPr>
        </p:nvSpPr>
        <p:spPr>
          <a:xfrm>
            <a:off x="1607040" y="6492960"/>
            <a:ext cx="592956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22" name="Straight Connector 17"/>
          <p:cNvCxnSpPr/>
          <p:nvPr/>
        </p:nvCxnSpPr>
        <p:spPr>
          <a:xfrm flipH="1">
            <a:off x="1071360" y="4581000"/>
            <a:ext cx="6918120" cy="360"/>
          </a:xfrm>
          <a:prstGeom prst="straightConnector1">
            <a:avLst/>
          </a:prstGeom>
          <a:ln w="12700">
            <a:solidFill>
              <a:srgbClr val="d0cece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2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8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28560" y="1395720"/>
            <a:ext cx="7886520" cy="493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Franklin Gothic Book"/>
              <a:buChar char="―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2"/>
          </p:nvPr>
        </p:nvSpPr>
        <p:spPr>
          <a:xfrm>
            <a:off x="1607040" y="6492960"/>
            <a:ext cx="592956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3"/>
          </p:nvPr>
        </p:nvSpPr>
        <p:spPr>
          <a:xfrm>
            <a:off x="7989480" y="6492960"/>
            <a:ext cx="525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DE3FA7-93D2-45FA-9528-48345BBE1457}" type="slidenum">
              <a: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7" name="Picture 9" descr="A screenshot of a video game&#10;&#10;Description automatically generated"/>
          <p:cNvPicPr/>
          <p:nvPr/>
        </p:nvPicPr>
        <p:blipFill>
          <a:blip r:embed="rId3"/>
          <a:srcRect l="36650" t="0" r="0" b="772"/>
          <a:stretch/>
        </p:blipFill>
        <p:spPr>
          <a:xfrm>
            <a:off x="0" y="345960"/>
            <a:ext cx="554040" cy="863640"/>
          </a:xfrm>
          <a:prstGeom prst="rect">
            <a:avLst/>
          </a:prstGeom>
          <a:ln w="0">
            <a:noFill/>
          </a:ln>
        </p:spPr>
      </p:pic>
      <p:grpSp>
        <p:nvGrpSpPr>
          <p:cNvPr id="28" name="Group 3"/>
          <p:cNvGrpSpPr/>
          <p:nvPr/>
        </p:nvGrpSpPr>
        <p:grpSpPr>
          <a:xfrm>
            <a:off x="8539920" y="435960"/>
            <a:ext cx="603720" cy="683640"/>
            <a:chOff x="8539920" y="435960"/>
            <a:chExt cx="603720" cy="683640"/>
          </a:xfrm>
        </p:grpSpPr>
        <p:sp>
          <p:nvSpPr>
            <p:cNvPr id="29" name="Rectangle 14"/>
            <p:cNvSpPr/>
            <p:nvPr/>
          </p:nvSpPr>
          <p:spPr>
            <a:xfrm>
              <a:off x="900000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30" name="Rectangle 15"/>
            <p:cNvSpPr/>
            <p:nvPr/>
          </p:nvSpPr>
          <p:spPr>
            <a:xfrm>
              <a:off x="877284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31" name="Rectangle 16"/>
            <p:cNvSpPr/>
            <p:nvPr/>
          </p:nvSpPr>
          <p:spPr>
            <a:xfrm>
              <a:off x="853992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cxnSp>
        <p:nvCxnSpPr>
          <p:cNvPr id="32" name="Straight Connector 23"/>
          <p:cNvCxnSpPr/>
          <p:nvPr/>
        </p:nvCxnSpPr>
        <p:spPr>
          <a:xfrm>
            <a:off x="1071360" y="1209960"/>
            <a:ext cx="6918120" cy="360"/>
          </a:xfrm>
          <a:prstGeom prst="straightConnector1">
            <a:avLst/>
          </a:prstGeom>
          <a:ln w="12700">
            <a:solidFill>
              <a:srgbClr val="d0cece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2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8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4"/>
          </p:nvPr>
        </p:nvSpPr>
        <p:spPr>
          <a:xfrm>
            <a:off x="1607040" y="6492960"/>
            <a:ext cx="592956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5"/>
          </p:nvPr>
        </p:nvSpPr>
        <p:spPr>
          <a:xfrm>
            <a:off x="7989480" y="6492960"/>
            <a:ext cx="525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EEE2D2-68F3-4792-A7DB-96BE4A9A62B4}" type="slidenum">
              <a: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" name="Picture 9" descr="A screenshot of a video game&#10;&#10;Description automatically generated"/>
          <p:cNvPicPr/>
          <p:nvPr/>
        </p:nvPicPr>
        <p:blipFill>
          <a:blip r:embed="rId3"/>
          <a:srcRect l="36650" t="0" r="0" b="772"/>
          <a:stretch/>
        </p:blipFill>
        <p:spPr>
          <a:xfrm>
            <a:off x="0" y="345960"/>
            <a:ext cx="554040" cy="863640"/>
          </a:xfrm>
          <a:prstGeom prst="rect">
            <a:avLst/>
          </a:prstGeom>
          <a:ln w="0">
            <a:noFill/>
          </a:ln>
        </p:spPr>
      </p:pic>
      <p:grpSp>
        <p:nvGrpSpPr>
          <p:cNvPr id="39" name="Group 3"/>
          <p:cNvGrpSpPr/>
          <p:nvPr/>
        </p:nvGrpSpPr>
        <p:grpSpPr>
          <a:xfrm>
            <a:off x="8539920" y="435960"/>
            <a:ext cx="603720" cy="683640"/>
            <a:chOff x="8539920" y="435960"/>
            <a:chExt cx="603720" cy="683640"/>
          </a:xfrm>
        </p:grpSpPr>
        <p:sp>
          <p:nvSpPr>
            <p:cNvPr id="40" name="Rectangle 14"/>
            <p:cNvSpPr/>
            <p:nvPr/>
          </p:nvSpPr>
          <p:spPr>
            <a:xfrm>
              <a:off x="900000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41" name="Rectangle 15"/>
            <p:cNvSpPr/>
            <p:nvPr/>
          </p:nvSpPr>
          <p:spPr>
            <a:xfrm>
              <a:off x="877284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42" name="Rectangle 16"/>
            <p:cNvSpPr/>
            <p:nvPr/>
          </p:nvSpPr>
          <p:spPr>
            <a:xfrm>
              <a:off x="853992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cxnSp>
        <p:nvCxnSpPr>
          <p:cNvPr id="43" name="Straight Connector 23"/>
          <p:cNvCxnSpPr/>
          <p:nvPr/>
        </p:nvCxnSpPr>
        <p:spPr>
          <a:xfrm>
            <a:off x="1071360" y="1209960"/>
            <a:ext cx="6918120" cy="360"/>
          </a:xfrm>
          <a:prstGeom prst="straightConnector1">
            <a:avLst/>
          </a:prstGeom>
          <a:ln w="12700">
            <a:solidFill>
              <a:srgbClr val="d0cece"/>
            </a:solidFill>
          </a:ln>
        </p:spPr>
      </p:cxn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8560" y="1413000"/>
            <a:ext cx="3885840" cy="476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629240" y="1413000"/>
            <a:ext cx="3885840" cy="476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2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8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6"/>
          </p:nvPr>
        </p:nvSpPr>
        <p:spPr>
          <a:xfrm>
            <a:off x="1607040" y="6492960"/>
            <a:ext cx="592956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7"/>
          </p:nvPr>
        </p:nvSpPr>
        <p:spPr>
          <a:xfrm>
            <a:off x="7989480" y="6492960"/>
            <a:ext cx="525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232BF6-5C12-4DBD-A582-5F4503F71CA7}" type="slidenum">
              <a: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9" name="Picture 9" descr="A screenshot of a video game&#10;&#10;Description automatically generated"/>
          <p:cNvPicPr/>
          <p:nvPr/>
        </p:nvPicPr>
        <p:blipFill>
          <a:blip r:embed="rId3"/>
          <a:srcRect l="36650" t="0" r="0" b="772"/>
          <a:stretch/>
        </p:blipFill>
        <p:spPr>
          <a:xfrm>
            <a:off x="0" y="345960"/>
            <a:ext cx="554040" cy="863640"/>
          </a:xfrm>
          <a:prstGeom prst="rect">
            <a:avLst/>
          </a:prstGeom>
          <a:ln w="0">
            <a:noFill/>
          </a:ln>
        </p:spPr>
      </p:pic>
      <p:grpSp>
        <p:nvGrpSpPr>
          <p:cNvPr id="50" name="Group 3"/>
          <p:cNvGrpSpPr/>
          <p:nvPr/>
        </p:nvGrpSpPr>
        <p:grpSpPr>
          <a:xfrm>
            <a:off x="8539920" y="435960"/>
            <a:ext cx="603720" cy="683640"/>
            <a:chOff x="8539920" y="435960"/>
            <a:chExt cx="603720" cy="683640"/>
          </a:xfrm>
        </p:grpSpPr>
        <p:sp>
          <p:nvSpPr>
            <p:cNvPr id="51" name="Rectangle 14"/>
            <p:cNvSpPr/>
            <p:nvPr/>
          </p:nvSpPr>
          <p:spPr>
            <a:xfrm>
              <a:off x="900000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52" name="Rectangle 15"/>
            <p:cNvSpPr/>
            <p:nvPr/>
          </p:nvSpPr>
          <p:spPr>
            <a:xfrm>
              <a:off x="877284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53" name="Rectangle 16"/>
            <p:cNvSpPr/>
            <p:nvPr/>
          </p:nvSpPr>
          <p:spPr>
            <a:xfrm>
              <a:off x="853992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  <p:cxnSp>
        <p:nvCxnSpPr>
          <p:cNvPr id="54" name="Straight Connector 23"/>
          <p:cNvCxnSpPr/>
          <p:nvPr/>
        </p:nvCxnSpPr>
        <p:spPr>
          <a:xfrm>
            <a:off x="1071360" y="1209960"/>
            <a:ext cx="6918120" cy="360"/>
          </a:xfrm>
          <a:prstGeom prst="straightConnector1">
            <a:avLst/>
          </a:prstGeom>
          <a:ln w="12700">
            <a:solidFill>
              <a:srgbClr val="d0cece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2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8"/>
          </p:nvPr>
        </p:nvSpPr>
        <p:spPr>
          <a:xfrm>
            <a:off x="1607040" y="6492960"/>
            <a:ext cx="592956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9"/>
          </p:nvPr>
        </p:nvSpPr>
        <p:spPr>
          <a:xfrm>
            <a:off x="7989480" y="6492960"/>
            <a:ext cx="525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AA6CEB-830B-4C86-9E88-5133FD49BE26}" type="slidenum">
              <a:rPr b="0" lang="hr-HR" sz="1200" spc="-1" strike="noStrike">
                <a:solidFill>
                  <a:schemeClr val="dk1">
                    <a:tint val="75000"/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7" name="Picture 9" descr="A screenshot of a video game&#10;&#10;Description automatically generated"/>
          <p:cNvPicPr/>
          <p:nvPr/>
        </p:nvPicPr>
        <p:blipFill>
          <a:blip r:embed="rId3"/>
          <a:srcRect l="36650" t="0" r="0" b="772"/>
          <a:stretch/>
        </p:blipFill>
        <p:spPr>
          <a:xfrm>
            <a:off x="0" y="345960"/>
            <a:ext cx="554040" cy="863640"/>
          </a:xfrm>
          <a:prstGeom prst="rect">
            <a:avLst/>
          </a:prstGeom>
          <a:ln w="0">
            <a:noFill/>
          </a:ln>
        </p:spPr>
      </p:pic>
      <p:grpSp>
        <p:nvGrpSpPr>
          <p:cNvPr id="58" name="Group 3"/>
          <p:cNvGrpSpPr/>
          <p:nvPr/>
        </p:nvGrpSpPr>
        <p:grpSpPr>
          <a:xfrm>
            <a:off x="8539920" y="435960"/>
            <a:ext cx="603720" cy="683640"/>
            <a:chOff x="8539920" y="435960"/>
            <a:chExt cx="603720" cy="683640"/>
          </a:xfrm>
        </p:grpSpPr>
        <p:sp>
          <p:nvSpPr>
            <p:cNvPr id="59" name="Rectangle 14"/>
            <p:cNvSpPr/>
            <p:nvPr/>
          </p:nvSpPr>
          <p:spPr>
            <a:xfrm>
              <a:off x="900000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60" name="Rectangle 15"/>
            <p:cNvSpPr/>
            <p:nvPr/>
          </p:nvSpPr>
          <p:spPr>
            <a:xfrm>
              <a:off x="877284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  <p:sp>
          <p:nvSpPr>
            <p:cNvPr id="61" name="Rectangle 16"/>
            <p:cNvSpPr/>
            <p:nvPr/>
          </p:nvSpPr>
          <p:spPr>
            <a:xfrm>
              <a:off x="8539920" y="435960"/>
              <a:ext cx="143640" cy="68364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1124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3" name="Rectangle 325"/>
          <p:cNvSpPr/>
          <p:nvPr/>
        </p:nvSpPr>
        <p:spPr>
          <a:xfrm>
            <a:off x="0" y="3573360"/>
            <a:ext cx="9143640" cy="1294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561"/>
              </a:spcBef>
            </a:pPr>
            <a:endParaRPr b="0" lang="hr-HR" sz="2800" spc="-1" strike="noStrike">
              <a:solidFill>
                <a:srgbClr val="ff9900"/>
              </a:solidFill>
              <a:latin typeface="Franklin Gothic Book"/>
            </a:endParaRPr>
          </a:p>
        </p:txBody>
      </p:sp>
      <p:pic>
        <p:nvPicPr>
          <p:cNvPr id="64" name="Picture 3" descr=""/>
          <p:cNvPicPr/>
          <p:nvPr/>
        </p:nvPicPr>
        <p:blipFill>
          <a:blip r:embed="rId2"/>
          <a:stretch/>
        </p:blipFill>
        <p:spPr>
          <a:xfrm>
            <a:off x="8194320" y="5597280"/>
            <a:ext cx="618840" cy="942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1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836640"/>
            <a:ext cx="4495320" cy="55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48320" y="836640"/>
            <a:ext cx="4495320" cy="55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hr-HR" sz="1200" spc="-1" strike="noStrike">
                <a:solidFill>
                  <a:schemeClr val="dk1">
                    <a:tint val="75000"/>
                  </a:schemeClr>
                </a:solidFill>
                <a:latin typeface="Franklin Gothic Book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11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200" spc="-1" strike="noStrike">
                <a:solidFill>
                  <a:schemeClr val="dk1">
                    <a:tint val="7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560B92-F17D-4CFA-B457-DF3590AAC46D}" type="slidenum">
              <a:rPr b="0" lang="hr-HR" sz="1200" spc="-1" strike="noStrike">
                <a:solidFill>
                  <a:schemeClr val="dk1">
                    <a:tint val="75000"/>
                  </a:schemeClr>
                </a:solidFill>
                <a:latin typeface="Franklin Gothic Boo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78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79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80" name="Blank"/>
          <p:cNvSpPr/>
          <p:nvPr/>
        </p:nvSpPr>
        <p:spPr>
          <a:xfrm>
            <a:off x="13680" y="-4320"/>
            <a:ext cx="9143640" cy="9903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50760" rIns="50760" tIns="24840" bIns="24840" anchor="ctr">
            <a:normAutofit/>
          </a:bodyPr>
          <a:p>
            <a:pPr algn="ctr" defTabSz="514440">
              <a:lnSpc>
                <a:spcPct val="100000"/>
              </a:lnSpc>
              <a:tabLst>
                <a:tab algn="l" pos="0"/>
              </a:tabLst>
            </a:pPr>
            <a:endParaRPr b="1" lang="hr-HR" sz="1130" spc="-1" strike="noStrike">
              <a:solidFill>
                <a:schemeClr val="dk1"/>
              </a:solidFill>
              <a:latin typeface="Franklin Gothic Medium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2960" y="3751920"/>
            <a:ext cx="8244720" cy="14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dt" idx="13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14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15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93CDF8-F427-49D9-862E-7BE11B30780F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5" name="UNI_Logo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770880" y="262440"/>
            <a:ext cx="726840" cy="719640"/>
          </a:xfrm>
          <a:prstGeom prst="rect">
            <a:avLst/>
          </a:prstGeom>
          <a:ln w="0">
            <a:noFill/>
          </a:ln>
        </p:spPr>
      </p:pic>
      <p:pic>
        <p:nvPicPr>
          <p:cNvPr id="86" name="FER_logo" descr="A close up of a logo&#10;&#10;Description automatically generated"/>
          <p:cNvPicPr/>
          <p:nvPr/>
        </p:nvPicPr>
        <p:blipFill>
          <a:blip r:embed="rId7">
            <a:alphaModFix amt="79000"/>
          </a:blip>
          <a:srcRect l="13470" t="23715" r="15697" b="21450"/>
          <a:stretch/>
        </p:blipFill>
        <p:spPr>
          <a:xfrm>
            <a:off x="7629120" y="345240"/>
            <a:ext cx="1187640" cy="582120"/>
          </a:xfrm>
          <a:prstGeom prst="rect">
            <a:avLst/>
          </a:prstGeom>
          <a:ln w="0">
            <a:noFill/>
          </a:ln>
        </p:spPr>
      </p:pic>
      <p:sp>
        <p:nvSpPr>
          <p:cNvPr id="87" name="Course"/>
          <p:cNvSpPr/>
          <p:nvPr/>
        </p:nvSpPr>
        <p:spPr>
          <a:xfrm>
            <a:off x="6310080" y="2336760"/>
            <a:ext cx="239796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defTabSz="457200">
              <a:lnSpc>
                <a:spcPct val="110000"/>
              </a:lnSpc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</a:rPr>
              <a:t>Programsko inženjerstvo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</a:rPr>
              <a:t>ID 183400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15" descr=""/>
          <p:cNvPicPr/>
          <p:nvPr/>
        </p:nvPicPr>
        <p:blipFill>
          <a:blip r:embed="rId8"/>
          <a:stretch/>
        </p:blipFill>
        <p:spPr>
          <a:xfrm>
            <a:off x="187920" y="0"/>
            <a:ext cx="3204000" cy="2773800"/>
          </a:xfrm>
          <a:prstGeom prst="rect">
            <a:avLst/>
          </a:prstGeom>
          <a:ln w="0">
            <a:noFill/>
          </a:ln>
        </p:spPr>
      </p:pic>
      <p:sp>
        <p:nvSpPr>
          <p:cNvPr id="89" name="TextBox 3"/>
          <p:cNvSpPr/>
          <p:nvPr/>
        </p:nvSpPr>
        <p:spPr>
          <a:xfrm>
            <a:off x="2757240" y="3267000"/>
            <a:ext cx="3369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hr-HR" sz="2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Prezentacija</a:t>
            </a:r>
            <a:r>
              <a:rPr b="0" lang="hr-HR" sz="2000" spc="-1" strike="noStrike">
                <a:solidFill>
                  <a:schemeClr val="dk1"/>
                </a:solidFill>
                <a:latin typeface="Franklin Gothic Demi"/>
              </a:rPr>
              <a:t> </a:t>
            </a:r>
            <a:r>
              <a:rPr b="0" lang="hr-HR" sz="2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projekta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9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95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96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16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ftr" idx="17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18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88E44C-C1C6-4295-9AF8-D0BB88E9C9A8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" hidden="1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03" name="Rectangle 7" hidden="1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04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05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06" name="Rectangle 6"/>
          <p:cNvSpPr/>
          <p:nvPr/>
        </p:nvSpPr>
        <p:spPr>
          <a:xfrm>
            <a:off x="6043680" y="599760"/>
            <a:ext cx="2765160" cy="581652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153120" y="863640"/>
            <a:ext cx="2342880" cy="48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rgbClr val="ffffff"/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81040" y="863640"/>
            <a:ext cx="5370840" cy="48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9" name="Rectangle 7"/>
          <p:cNvSpPr/>
          <p:nvPr/>
        </p:nvSpPr>
        <p:spPr>
          <a:xfrm>
            <a:off x="334800" y="457200"/>
            <a:ext cx="2777040" cy="946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8"/>
          <p:cNvSpPr/>
          <p:nvPr/>
        </p:nvSpPr>
        <p:spPr>
          <a:xfrm>
            <a:off x="6031440" y="453600"/>
            <a:ext cx="2777040" cy="982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3181320" y="457200"/>
            <a:ext cx="277704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9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20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21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7C758D-2F4B-4497-B05C-FEF4FFD7DDF0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17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18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7480" y="123840"/>
            <a:ext cx="899928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361800" y="1052640"/>
            <a:ext cx="4168440" cy="504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683240" y="1052640"/>
            <a:ext cx="4168440" cy="504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Click icon to add online image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26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27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28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79280" y="1643040"/>
            <a:ext cx="8964360" cy="5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179280" y="2349360"/>
            <a:ext cx="4316040" cy="39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48320" y="2349360"/>
            <a:ext cx="4316040" cy="19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48320" y="4405320"/>
            <a:ext cx="4316040" cy="19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dt" idx="22"/>
          </p:nvPr>
        </p:nvSpPr>
        <p:spPr>
          <a:xfrm>
            <a:off x="1214280" y="6453360"/>
            <a:ext cx="1773000" cy="3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ftr" idx="23"/>
          </p:nvPr>
        </p:nvSpPr>
        <p:spPr>
          <a:xfrm>
            <a:off x="3124080" y="6453360"/>
            <a:ext cx="2895120" cy="3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 type="sldNum" idx="24"/>
          </p:nvPr>
        </p:nvSpPr>
        <p:spPr>
          <a:xfrm>
            <a:off x="6902280" y="6440400"/>
            <a:ext cx="2133360" cy="3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7005CA-31DB-43CC-9C86-D1B6A7F29FDB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41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42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43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19040" y="222120"/>
            <a:ext cx="8152920" cy="70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355680" y="1295280"/>
            <a:ext cx="8254800" cy="23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355680" y="3832200"/>
            <a:ext cx="8254800" cy="23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51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52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53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54" name="Rectangle 11"/>
          <p:cNvSpPr/>
          <p:nvPr/>
        </p:nvSpPr>
        <p:spPr>
          <a:xfrm>
            <a:off x="0" y="6659640"/>
            <a:ext cx="9143640" cy="198000"/>
          </a:xfrm>
          <a:prstGeom prst="rect">
            <a:avLst/>
          </a:prstGeom>
          <a:solidFill>
            <a:srgbClr val="9ec54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sr-Latn-RS" sz="2400" spc="-1" strike="noStrike">
              <a:solidFill>
                <a:schemeClr val="dk1"/>
              </a:solidFill>
              <a:latin typeface="Arial"/>
              <a:ea typeface="ＭＳ Ｐゴシック"/>
            </a:endParaRPr>
          </a:p>
        </p:txBody>
      </p:sp>
      <p:sp>
        <p:nvSpPr>
          <p:cNvPr id="155" name="Rectangle 4"/>
          <p:cNvSpPr/>
          <p:nvPr/>
        </p:nvSpPr>
        <p:spPr>
          <a:xfrm>
            <a:off x="317520" y="5734080"/>
            <a:ext cx="850860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sr-Latn-R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Rectangle 6"/>
          <p:cNvSpPr/>
          <p:nvPr/>
        </p:nvSpPr>
        <p:spPr>
          <a:xfrm>
            <a:off x="0" y="0"/>
            <a:ext cx="9143640" cy="637920"/>
          </a:xfrm>
          <a:prstGeom prst="rect">
            <a:avLst/>
          </a:prstGeom>
          <a:solidFill>
            <a:srgbClr val="9ec54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sr-Latn-RS" sz="2400" spc="-1" strike="noStrike">
              <a:solidFill>
                <a:schemeClr val="dk1"/>
              </a:solidFill>
              <a:latin typeface="Arial"/>
              <a:ea typeface="ＭＳ Ｐゴシック"/>
            </a:endParaRPr>
          </a:p>
        </p:txBody>
      </p:sp>
      <p:sp>
        <p:nvSpPr>
          <p:cNvPr id="157" name="Line 12"/>
          <p:cNvSpPr/>
          <p:nvPr/>
        </p:nvSpPr>
        <p:spPr>
          <a:xfrm>
            <a:off x="0" y="634680"/>
            <a:ext cx="9144000" cy="360"/>
          </a:xfrm>
          <a:prstGeom prst="line">
            <a:avLst/>
          </a:prstGeom>
          <a:ln w="12700">
            <a:solidFill>
              <a:srgbClr val="e6c0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hr-HR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58" name="Line 13"/>
          <p:cNvSpPr/>
          <p:nvPr/>
        </p:nvSpPr>
        <p:spPr>
          <a:xfrm>
            <a:off x="0" y="6661080"/>
            <a:ext cx="9144000" cy="360"/>
          </a:xfrm>
          <a:prstGeom prst="line">
            <a:avLst/>
          </a:prstGeom>
          <a:ln w="12700">
            <a:solidFill>
              <a:srgbClr val="e6c0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hr-HR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59" name="Text Box 14"/>
          <p:cNvSpPr/>
          <p:nvPr/>
        </p:nvSpPr>
        <p:spPr>
          <a:xfrm>
            <a:off x="8639280" y="6689880"/>
            <a:ext cx="5043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endParaRPr b="0" lang="sr-Latn-R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0" name="Text Box 15"/>
          <p:cNvSpPr/>
          <p:nvPr/>
        </p:nvSpPr>
        <p:spPr>
          <a:xfrm>
            <a:off x="8112240" y="6377040"/>
            <a:ext cx="84420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endParaRPr b="0" lang="sr-Latn-R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Rectangle 9"/>
          <p:cNvSpPr/>
          <p:nvPr/>
        </p:nvSpPr>
        <p:spPr>
          <a:xfrm>
            <a:off x="8682120" y="6626160"/>
            <a:ext cx="606240" cy="242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fld id="{E8FC678C-0CAD-4CE5-A627-967A250BC640}" type="slidenum">
              <a:rPr b="0" lang="de-DE" sz="1000" spc="-1" strike="noStrike">
                <a:solidFill>
                  <a:schemeClr val="lt1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9" descr="MCAST"/>
          <p:cNvPicPr/>
          <p:nvPr/>
        </p:nvPicPr>
        <p:blipFill>
          <a:blip r:embed="rId4"/>
          <a:stretch/>
        </p:blipFill>
        <p:spPr>
          <a:xfrm>
            <a:off x="7453440" y="185760"/>
            <a:ext cx="1483920" cy="296640"/>
          </a:xfrm>
          <a:prstGeom prst="rect">
            <a:avLst/>
          </a:prstGeom>
          <a:ln w="0">
            <a:noFill/>
          </a:ln>
        </p:spPr>
      </p:pic>
      <p:sp>
        <p:nvSpPr>
          <p:cNvPr id="163" name="Textfeld 12"/>
          <p:cNvSpPr/>
          <p:nvPr/>
        </p:nvSpPr>
        <p:spPr>
          <a:xfrm>
            <a:off x="0" y="6657840"/>
            <a:ext cx="91436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700" spc="-1" strike="noStrike">
                <a:solidFill>
                  <a:schemeClr val="dk1"/>
                </a:solidFill>
                <a:latin typeface="Arial"/>
                <a:ea typeface="Times New Roman"/>
              </a:rPr>
              <a:t>A Vocational Degree programme developed by MCAST and Fraunhofer IAO.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rafik 13" descr="C:\Dokumente und Einstellungen\sahin\Desktop\iao_85mm_p334.png"/>
          <p:cNvPicPr/>
          <p:nvPr/>
        </p:nvPicPr>
        <p:blipFill>
          <a:blip r:embed="rId5"/>
          <a:stretch/>
        </p:blipFill>
        <p:spPr>
          <a:xfrm>
            <a:off x="5940360" y="155520"/>
            <a:ext cx="1383840" cy="375840"/>
          </a:xfrm>
          <a:prstGeom prst="rect">
            <a:avLst/>
          </a:prstGeom>
          <a:ln w="0">
            <a:noFill/>
          </a:ln>
        </p:spPr>
      </p:pic>
      <p:sp>
        <p:nvSpPr>
          <p:cNvPr id="165" name="PlaceHolder 1"/>
          <p:cNvSpPr>
            <a:spLocks noGrp="1"/>
          </p:cNvSpPr>
          <p:nvPr>
            <p:ph type="body"/>
          </p:nvPr>
        </p:nvSpPr>
        <p:spPr>
          <a:xfrm>
            <a:off x="372240" y="1917720"/>
            <a:ext cx="8443080" cy="447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375120" y="860040"/>
            <a:ext cx="842220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2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title style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6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68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69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70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150920" y="533520"/>
            <a:ext cx="7792560" cy="76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1676520"/>
            <a:ext cx="9143640" cy="445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Click icon to add table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dt" idx="25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ftr" idx="26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sldNum" idx="27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04ABF8-5158-400C-A946-873A61CD716C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80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81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86160" y="36856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252000" rIns="252000" tIns="4680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6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84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85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86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28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ftr" idx="29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sldNum" idx="30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15DCE6-3763-4730-BE09-21EA5D2CA38A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196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197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35960" y="2394000"/>
            <a:ext cx="8271720" cy="21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35960" y="4541400"/>
            <a:ext cx="8271720" cy="60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en-US" sz="1400" spc="-1" strike="noStrike" cap="all">
                <a:solidFill>
                  <a:schemeClr val="accent1"/>
                </a:solidFill>
                <a:latin typeface="Franklin Gothic Book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31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ftr" idx="32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sldNum" idx="33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9A040C-4483-46E4-B75D-CBC66BDD6809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04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05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06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19640" cy="8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2000" y="972000"/>
            <a:ext cx="467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4812120" y="972000"/>
            <a:ext cx="425952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34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35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sldNum" idx="36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79CDB2-44F4-48B5-A8AE-39555ADC4110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17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18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19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92000" y="-9000"/>
            <a:ext cx="7919640" cy="8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2000" y="991440"/>
            <a:ext cx="46796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72000" y="1668240"/>
            <a:ext cx="4679640" cy="466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4812120" y="991440"/>
            <a:ext cx="4212000" cy="5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4812120" y="1663920"/>
            <a:ext cx="4212000" cy="466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dt" idx="37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 type="ftr" idx="38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8"/>
          <p:cNvSpPr>
            <a:spLocks noGrp="1"/>
          </p:cNvSpPr>
          <p:nvPr>
            <p:ph type="sldNum" idx="39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A03D34-7288-46A4-87BF-C6A652DC58D3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29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30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31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40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41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sldNum" idx="42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945F9C-144A-4312-80FB-F83BE5071F08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38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39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40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41" name="PlaceHolder 1"/>
          <p:cNvSpPr>
            <a:spLocks noGrp="1"/>
          </p:cNvSpPr>
          <p:nvPr>
            <p:ph type="dt" idx="43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ftr" idx="44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5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067D23-D608-4FB8-93D6-69327E39F766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Blank"/>
          <p:cNvSpPr/>
          <p:nvPr/>
        </p:nvSpPr>
        <p:spPr>
          <a:xfrm>
            <a:off x="0" y="0"/>
            <a:ext cx="9143640" cy="9903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50760" rIns="50760" tIns="24840" bIns="24840" anchor="ctr">
            <a:normAutofit/>
          </a:bodyPr>
          <a:p>
            <a:pPr algn="ctr" defTabSz="514440">
              <a:lnSpc>
                <a:spcPct val="100000"/>
              </a:lnSpc>
              <a:tabLst>
                <a:tab algn="l" pos="0"/>
              </a:tabLst>
            </a:pPr>
            <a:endParaRPr b="1" lang="hr-HR" sz="1130" spc="-1" strike="noStrike">
              <a:solidFill>
                <a:schemeClr val="dk1"/>
              </a:solidFill>
              <a:latin typeface="Franklin Gothic Medium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47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48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76000" y="1008720"/>
            <a:ext cx="2273400" cy="17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257040">
              <a:lnSpc>
                <a:spcPct val="100000"/>
              </a:lnSpc>
              <a:buNone/>
            </a:pPr>
            <a:r>
              <a:rPr b="0" lang="en-US" sz="1350" spc="-1" strike="noStrike" cap="all">
                <a:solidFill>
                  <a:srgbClr val="ffffff"/>
                </a:solidFill>
                <a:latin typeface="Franklin Gothic Demi"/>
              </a:rPr>
              <a:t>Click to edit Master title style</a:t>
            </a:r>
            <a:endParaRPr b="0" lang="en-US" sz="135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3675600" y="1008720"/>
            <a:ext cx="4987800" cy="52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52000" indent="-25200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chemeClr val="dk2"/>
                </a:solidFill>
                <a:latin typeface="Franklin Gothic Book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396000" indent="-25200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28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chemeClr val="dk2"/>
                </a:solidFill>
                <a:latin typeface="Franklin Gothic Book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698760" indent="-131760" defTabSz="257040">
              <a:lnSpc>
                <a:spcPct val="100000"/>
              </a:lnSpc>
              <a:spcBef>
                <a:spcPts val="22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100" spc="-1" strike="noStrike">
                <a:solidFill>
                  <a:schemeClr val="dk2"/>
                </a:solidFill>
                <a:latin typeface="Franklin Gothic Book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901080" indent="-131760" defTabSz="257040">
              <a:lnSpc>
                <a:spcPct val="100000"/>
              </a:lnSpc>
              <a:spcBef>
                <a:spcPts val="221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1100" spc="-1" strike="noStrike">
                <a:solidFill>
                  <a:schemeClr val="dk2"/>
                </a:solidFill>
                <a:latin typeface="Franklin Gothic Book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576000" y="2836800"/>
            <a:ext cx="2273400" cy="346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Franklin Gothic Book"/>
              </a:rPr>
              <a:t>Click to edit Master text styles</a:t>
            </a:r>
            <a:endParaRPr b="0" lang="en-US" sz="9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dt" idx="46"/>
          </p:nvPr>
        </p:nvSpPr>
        <p:spPr>
          <a:xfrm>
            <a:off x="5704560" y="64569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ftr" idx="47"/>
          </p:nvPr>
        </p:nvSpPr>
        <p:spPr>
          <a:xfrm>
            <a:off x="787320" y="6452640"/>
            <a:ext cx="4836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6"/>
          <p:cNvSpPr>
            <a:spLocks noGrp="1"/>
          </p:cNvSpPr>
          <p:nvPr>
            <p:ph type="sldNum" idx="48"/>
          </p:nvPr>
        </p:nvSpPr>
        <p:spPr>
          <a:xfrm>
            <a:off x="7918560" y="6456960"/>
            <a:ext cx="789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9472CF-1E5E-449C-9C20-AAD37D9E140B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7"/>
          <p:cNvSpPr/>
          <p:nvPr/>
        </p:nvSpPr>
        <p:spPr>
          <a:xfrm>
            <a:off x="72000" y="887400"/>
            <a:ext cx="8999640" cy="4536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20" bIns="72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sp>
        <p:nvSpPr>
          <p:cNvPr id="256" name="Rectangle 7"/>
          <p:cNvSpPr/>
          <p:nvPr/>
        </p:nvSpPr>
        <p:spPr>
          <a:xfrm>
            <a:off x="0" y="6816240"/>
            <a:ext cx="9143640" cy="35640"/>
          </a:xfrm>
          <a:prstGeom prst="rect">
            <a:avLst/>
          </a:prstGeom>
          <a:gradFill rotWithShape="0">
            <a:gsLst>
              <a:gs pos="3000">
                <a:srgbClr val="ffffff">
                  <a:alpha val="56000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9000" bIns="-9000" anchor="ctr">
            <a:noAutofit/>
          </a:bodyPr>
          <a:p>
            <a:pPr defTabSz="457200">
              <a:lnSpc>
                <a:spcPct val="100000"/>
              </a:lnSpc>
            </a:pPr>
            <a:endParaRPr b="0" lang="hr-HR" sz="1350" spc="-1" strike="noStrike">
              <a:solidFill>
                <a:schemeClr val="dk1"/>
              </a:solidFill>
              <a:latin typeface="Tahoma"/>
            </a:endParaRPr>
          </a:p>
        </p:txBody>
      </p:sp>
      <p:pic>
        <p:nvPicPr>
          <p:cNvPr id="257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960" cy="548280"/>
          </a:xfrm>
          <a:prstGeom prst="rect">
            <a:avLst/>
          </a:prstGeom>
          <a:ln w="0">
            <a:noFill/>
          </a:ln>
        </p:spPr>
      </p:pic>
      <p:pic>
        <p:nvPicPr>
          <p:cNvPr id="258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4320" cy="306000"/>
          </a:xfrm>
          <a:prstGeom prst="rect">
            <a:avLst/>
          </a:prstGeom>
          <a:ln w="0">
            <a:noFill/>
          </a:ln>
        </p:spPr>
      </p:pic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35960" y="4693320"/>
            <a:ext cx="827172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257040">
              <a:lnSpc>
                <a:spcPct val="100000"/>
              </a:lnSpc>
              <a:buNone/>
            </a:pPr>
            <a:r>
              <a:rPr b="0" lang="en-US" sz="135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Click to edit Master title style</a:t>
            </a:r>
            <a:endParaRPr b="0" lang="en-US" sz="135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338040" y="1042200"/>
            <a:ext cx="8467920" cy="34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Franklin Gothic Book"/>
              </a:rPr>
              <a:t>Click icon to add picture</a:t>
            </a:r>
            <a:endParaRPr b="0" lang="en-US" sz="9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435960" y="5259960"/>
            <a:ext cx="8271720" cy="99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9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dt" idx="49"/>
          </p:nvPr>
        </p:nvSpPr>
        <p:spPr>
          <a:xfrm>
            <a:off x="7563600" y="6500880"/>
            <a:ext cx="94032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ftr" idx="50"/>
          </p:nvPr>
        </p:nvSpPr>
        <p:spPr>
          <a:xfrm>
            <a:off x="758880" y="6500880"/>
            <a:ext cx="675936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sldNum" idx="51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417A1E-500A-4804-908F-532ED940C13B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62960" y="3751920"/>
            <a:ext cx="8244720" cy="14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257040">
              <a:lnSpc>
                <a:spcPct val="150000"/>
              </a:lnSpc>
              <a:buNone/>
            </a:pPr>
            <a:r>
              <a:rPr b="0" lang="hr-HR" sz="40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&lt;GeaRSHARE&gt;</a:t>
            </a:r>
            <a:endParaRPr b="0" lang="en-US" sz="4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ubTitle"/>
          </p:nvPr>
        </p:nvSpPr>
        <p:spPr>
          <a:xfrm>
            <a:off x="699480" y="5227200"/>
            <a:ext cx="7772040" cy="5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72"/>
          </a:bodyPr>
          <a:p>
            <a:pPr indent="0" algn="ctr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chemeClr val="dk1"/>
                </a:solidFill>
                <a:latin typeface="Franklin Gothic Book"/>
              </a:rPr>
              <a:t>Tim:  TG 02.3 &lt;Patuljci&gt;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200" spc="-1" strike="noStrike">
                <a:solidFill>
                  <a:schemeClr val="dk1"/>
                </a:solidFill>
                <a:latin typeface="Franklin Gothic Book"/>
              </a:rPr>
              <a:t>Ak. god. 2025./2026.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Sadržaj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Opis zadatka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Pregled zahtjeva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Korišteni alati i tehnologije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Arhitektura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Organizacija rada 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Iskustva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88A1EF3-B19A-434C-9025-BD7EE7B3F3C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Sadržaj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Članovi tima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Cilj projekta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Analiza i oblikovanje sustava</a:t>
            </a: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	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Zahtjevi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Arhitektura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Organizacija rada 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Iskustva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66DB46D-C5CC-4754-8C95-0E3E3B28005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Članovi grupe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Iva Šuker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Andrija Barin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Luka Baršić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Petar Marinović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Fran Matijević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Robert Takač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D93C620-A245-4929-9AFD-50C248B9A66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O projektu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Aplikacija omogućuje iznajmljivanje sportske opreme putem interneta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Funkcionalnosti: registracija, prijava, objava oglasa, prikaz itd.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Svrha spojiti trgovce koji nude svoju opremu i kupcima omogućiti jednostavnu pretragu i iznajmljivanje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Slična rješenja: Decathlon Rent, SkiSet, Intersport Rent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55"/>
          </p:nvPr>
        </p:nvSpPr>
        <p:spPr>
          <a:xfrm>
            <a:off x="8549280" y="6500880"/>
            <a:ext cx="474840" cy="2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6E049A-3CB4-4C98-A465-907BE7D67E4C}" type="slidenum">
              <a:rPr b="0" lang="hr-HR" sz="1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Pregled zahtjeva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1" lang="hr-HR" sz="2400" spc="-1" strike="noStrike">
                <a:solidFill>
                  <a:schemeClr val="dk1"/>
                </a:solidFill>
                <a:latin typeface="Franklin Gothic Book"/>
              </a:rPr>
              <a:t>Glavni funkcionalni zahtjevi</a:t>
            </a: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 (max. 1 slajd)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Registracija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Prijava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pretraživanje oglasa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postavljanje oglasa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Nefunkcionalni zahtjevi: intuitivno korisničko sučelje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Dostupnost sustava 99% vremena kroz godinu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i="1" lang="hr-HR" sz="2400" spc="-1" strike="noStrike">
                <a:solidFill>
                  <a:schemeClr val="dk1"/>
                </a:solidFill>
                <a:latin typeface="Franklin Gothic Book"/>
              </a:rPr>
              <a:t>U usmenom izlaganju ukratko raspravite samo o primjerima glavnih izazova i povežite ih sa sljedećim slajdom dijagrama slučajeva upotrebe UML-a!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BDAEF6-60AA-457E-9A37-ED405766633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UML dijagram obrazaca uporabe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686160" y="1118160"/>
            <a:ext cx="7543440" cy="5511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F2732E0-4A33-4EB3-9E11-7CCFB661033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UML dijagram obrazaca uporabe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1828800" y="1143000"/>
            <a:ext cx="4999320" cy="5459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AC48090-1380-4092-BD61-78AAE720082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Arhitektura sustava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684360" y="1143000"/>
            <a:ext cx="7893360" cy="5257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C7AF9E2-7D1F-49DE-94E1-2721C239BFF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Arhitektura sustava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584640" y="1143000"/>
            <a:ext cx="8102160" cy="5340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BFB2109-3B9B-4F4C-BF05-7873198E31C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Ispitivanje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Organizacija ispitivanja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Fokus ispitivanja. Potpunost ispitivanja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E3DB67B-0B74-4097-B3F3-53F76C363A0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Korišteni alati i tehnologije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Popis programskih jezika i radnih okvira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React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Spring Boot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PostgreSQL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Render platforma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A7B4D05-BBE4-47ED-845D-802CE482F43E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Organizacija rada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Neprogramski (organizacijski) zadaci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Organizacija komunikacije (korištene platforme/SW ....)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GitHub iskustvo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Tablica raščlambe zadataka članova s procijenjenim naporom u satima (jedan slajd)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i="1" lang="hr-HR" sz="2000" spc="-1" strike="noStrike">
                <a:solidFill>
                  <a:schemeClr val="dk1"/>
                </a:solidFill>
                <a:latin typeface="Franklin Gothic Book"/>
              </a:rPr>
              <a:t>U usmenom izlaganju samo diskutirajte o glavnim problemima rasporeda i svom iskustvu za njihovo rješavanje (npr. preuzimanje zadataka drugih članova ...)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Vremenski okvir razvoja (specifikacija, implementacija, testiranje, dokumentacija)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Poželjan grafički prikaz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marL="457200" indent="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22F7178-9D55-43FE-B056-37F32B7EFDD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Demonstracija aplikacije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Pokazati ključne funkcionalnosti uživo.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Fokus na izazove i rješenja (1-2 primjera).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7C83D9E-CE90-4567-8A83-E35F90D95F0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Zaključak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Naučene lekcije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Što je bilo dobro, a što je moglo bolje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A što se nikako ne bi smjelo ponoviti </a:t>
            </a:r>
            <a:r>
              <a:rPr b="0" lang="hr-HR" sz="2000" spc="-1" strike="noStrike">
                <a:solidFill>
                  <a:schemeClr val="dk1"/>
                </a:solidFill>
                <a:latin typeface="Wingdings"/>
              </a:rPr>
              <a:t>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FB795A1-EB3F-4D9C-8848-0273829406B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257040">
              <a:lnSpc>
                <a:spcPct val="100000"/>
              </a:lnSpc>
              <a:buNone/>
            </a:pPr>
            <a:r>
              <a:rPr b="0" i="1" lang="hr-HR" sz="2800" spc="-1" strike="noStrike" cap="all">
                <a:solidFill>
                  <a:schemeClr val="dk1">
                    <a:lumMod val="75000"/>
                    <a:lumOff val="25000"/>
                  </a:schemeClr>
                </a:solidFill>
                <a:latin typeface="Franklin Gothic Demi"/>
              </a:rPr>
              <a:t>Nekoliko savjeta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10-15 slajdova je sasvim dovoljno – istaknite samo najvažnije činjenice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chemeClr val="dk1"/>
                </a:solidFill>
                <a:latin typeface="Franklin Gothic Book"/>
              </a:rPr>
              <a:t>Prezentaciju možete grafički urediti prema svojem nahođenju uz ograničenja: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Obavezan sadržaj naslovne stranice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Obavezni brojevi stranica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marL="266760" indent="-26676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1" lang="hr-HR" sz="2400" spc="-1" strike="noStrike">
                <a:solidFill>
                  <a:schemeClr val="dk1"/>
                </a:solidFill>
                <a:latin typeface="Franklin Gothic Book"/>
              </a:rPr>
              <a:t>Priprema izlaganja na satu: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chemeClr val="dk1"/>
                </a:solidFill>
                <a:latin typeface="Franklin Gothic Book"/>
              </a:rPr>
              <a:t>Pokrenite sve potrebne programe i alate na računalu prije početka Vašeg izlaganja te provjerite kompatibilnost opreme!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506160" indent="-151920" defTabSz="257040">
              <a:lnSpc>
                <a:spcPct val="100000"/>
              </a:lnSpc>
              <a:spcBef>
                <a:spcPts val="320"/>
              </a:spcBef>
              <a:spcAft>
                <a:spcPts val="337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1600" spc="-1" strike="noStrike">
                <a:solidFill>
                  <a:schemeClr val="dk1"/>
                </a:solidFill>
                <a:latin typeface="Franklin Gothic Book"/>
              </a:rPr>
              <a:t>Standardni HDMI priključak. Eduraom.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pl-PL" sz="2000" spc="-1" strike="noStrike">
                <a:solidFill>
                  <a:schemeClr val="dk1"/>
                </a:solidFill>
                <a:latin typeface="Franklin Gothic Book"/>
              </a:rPr>
              <a:t>Vježbati izlaganje u 15 minuta.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487080" indent="-343080" defTabSz="25704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1" lang="hr-HR" sz="2000" spc="-1" strike="noStrike">
                <a:solidFill>
                  <a:schemeClr val="dk1"/>
                </a:solidFill>
                <a:latin typeface="Franklin Gothic Book"/>
              </a:rPr>
              <a:t>Poštujte zadani vremenski okvir!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25704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5152A28-AD3D-4EB3-B842-9E29B3615275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ROGI-templat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 pitchFamily="0" charset="1"/>
        <a:ea typeface=""/>
        <a:cs typeface=""/>
      </a:majorFont>
      <a:minorFont>
        <a:latin typeface="Franklin Gothic Book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1236</TotalTime>
  <Application>LibreOffice/24.2.7.2$Linux_X86_64 LibreOffice_project/420$Build-2</Application>
  <AppVersion>15.0000</AppVersion>
  <Words>438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2016-01-18T13:10:52Z</dcterms:created>
  <dc:creator>nfrid</dc:creator>
  <dc:description/>
  <dc:language>en-US</dc:language>
  <cp:lastModifiedBy/>
  <dcterms:modified xsi:type="dcterms:W3CDTF">2026-01-23T22:47:12Z</dcterms:modified>
  <cp:revision>23</cp:revision>
  <dc:subject/>
  <dc:title>&lt;Naziv projekta&gt;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Prikaz na zaslonu (4:3)</vt:lpwstr>
  </property>
  <property fmtid="{D5CDD505-2E9C-101B-9397-08002B2CF9AE}" pid="4" name="Slides">
    <vt:i4>14</vt:i4>
  </property>
</Properties>
</file>